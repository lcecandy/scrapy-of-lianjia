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8" r:id="rId2"/>
    <p:sldId id="275" r:id="rId3"/>
    <p:sldId id="262" r:id="rId4"/>
    <p:sldId id="277" r:id="rId5"/>
    <p:sldId id="278" r:id="rId6"/>
    <p:sldId id="279" r:id="rId7"/>
    <p:sldId id="280" r:id="rId8"/>
    <p:sldId id="281" r:id="rId9"/>
    <p:sldId id="282" r:id="rId10"/>
    <p:sldId id="27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92C0"/>
    <a:srgbClr val="48A2A0"/>
    <a:srgbClr val="A4D6D5"/>
    <a:srgbClr val="B0C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-306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9EA2A-4C48-4C61-B30A-DAB1A3E93B21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31000-9408-426B-B873-D4C066E48A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48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cd.fang.lianjia.com/loupan/pg1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5078" y="2441556"/>
            <a:ext cx="10941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zh-CN" sz="5400" dirty="0">
                <a:latin typeface="黑体" pitchFamily="49" charset="-122"/>
                <a:ea typeface="黑体" pitchFamily="49" charset="-122"/>
              </a:rPr>
              <a:t>基于</a:t>
            </a:r>
            <a:r>
              <a:rPr lang="en-US" altLang="zh-CN" sz="5400" dirty="0">
                <a:solidFill>
                  <a:srgbClr val="48A2A0"/>
                </a:solidFill>
                <a:latin typeface="Impact" panose="020B0806030902050204" pitchFamily="34" charset="0"/>
                <a:cs typeface="+mn-ea"/>
              </a:rPr>
              <a:t>Python</a:t>
            </a:r>
            <a:r>
              <a:rPr lang="zh-CN" altLang="zh-CN" sz="5400" dirty="0">
                <a:latin typeface="黑体" pitchFamily="49" charset="-122"/>
                <a:ea typeface="黑体" pitchFamily="49" charset="-122"/>
              </a:rPr>
              <a:t>的</a:t>
            </a:r>
            <a:r>
              <a:rPr lang="en-US" altLang="zh-CN" sz="5400" dirty="0">
                <a:solidFill>
                  <a:srgbClr val="48A2A0"/>
                </a:solidFill>
                <a:latin typeface="Impact" panose="020B0806030902050204" pitchFamily="34" charset="0"/>
                <a:cs typeface="+mn-ea"/>
              </a:rPr>
              <a:t>web</a:t>
            </a:r>
            <a:r>
              <a:rPr lang="zh-CN" altLang="zh-CN" sz="5400" dirty="0">
                <a:latin typeface="黑体" pitchFamily="49" charset="-122"/>
                <a:ea typeface="黑体" pitchFamily="49" charset="-122"/>
              </a:rPr>
              <a:t>数据采集技术</a:t>
            </a:r>
            <a:r>
              <a:rPr lang="zh-CN" altLang="zh-CN" sz="5400" dirty="0" smtClean="0">
                <a:latin typeface="黑体" pitchFamily="49" charset="-122"/>
                <a:ea typeface="黑体" pitchFamily="49" charset="-122"/>
              </a:rPr>
              <a:t>研究</a:t>
            </a:r>
            <a:endParaRPr lang="zh-CN" altLang="en-US" sz="5400" dirty="0">
              <a:solidFill>
                <a:srgbClr val="48A2A0"/>
              </a:solidFill>
              <a:latin typeface="黑体" pitchFamily="49" charset="-122"/>
              <a:ea typeface="黑体" pitchFamily="49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78866" y="3520121"/>
            <a:ext cx="6034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基于</a:t>
            </a:r>
            <a:r>
              <a:rPr lang="en-US" altLang="zh-CN" sz="14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Scrapy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爬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取链家网成都地区新房源，并用高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德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API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在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地图上可视化显示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835856" y="4364147"/>
            <a:ext cx="2520286" cy="257175"/>
            <a:chOff x="4843463" y="4520714"/>
            <a:chExt cx="2520286" cy="257175"/>
          </a:xfrm>
        </p:grpSpPr>
        <p:sp>
          <p:nvSpPr>
            <p:cNvPr id="3" name="椭圆 2"/>
            <p:cNvSpPr/>
            <p:nvPr/>
          </p:nvSpPr>
          <p:spPr>
            <a:xfrm>
              <a:off x="4843463" y="4520714"/>
              <a:ext cx="257175" cy="2571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5296085" y="4520714"/>
              <a:ext cx="257175" cy="257175"/>
            </a:xfrm>
            <a:prstGeom prst="ellipse">
              <a:avLst/>
            </a:prstGeom>
            <a:solidFill>
              <a:srgbClr val="A4D6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5748707" y="4520714"/>
              <a:ext cx="257175" cy="2571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6201329" y="4520714"/>
              <a:ext cx="257175" cy="257175"/>
            </a:xfrm>
            <a:prstGeom prst="ellipse">
              <a:avLst/>
            </a:prstGeom>
            <a:solidFill>
              <a:srgbClr val="A4D6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53951" y="4520714"/>
              <a:ext cx="257175" cy="2571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7106574" y="4520714"/>
              <a:ext cx="257175" cy="257175"/>
            </a:xfrm>
            <a:prstGeom prst="ellipse">
              <a:avLst/>
            </a:prstGeom>
            <a:solidFill>
              <a:srgbClr val="A4D6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椭圆 24"/>
          <p:cNvSpPr/>
          <p:nvPr/>
        </p:nvSpPr>
        <p:spPr>
          <a:xfrm>
            <a:off x="2910172" y="3921236"/>
            <a:ext cx="191910" cy="191910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216279" y="3195454"/>
            <a:ext cx="952500" cy="95250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45269" y="3286983"/>
            <a:ext cx="7168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18363" y="4239483"/>
            <a:ext cx="1066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Part one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84477" y="4578493"/>
            <a:ext cx="201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构架代码发送请求</a:t>
            </a:r>
            <a:endParaRPr lang="zh-CN" altLang="en-US" sz="1600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83474" y="4220748"/>
            <a:ext cx="1049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Part two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08658" y="4557988"/>
            <a:ext cx="2242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获取响应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内容（页面）</a:t>
            </a:r>
            <a:endParaRPr lang="zh-CN" altLang="en-US" sz="1600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701467" y="4234765"/>
            <a:ext cx="120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Part three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47402" y="4559758"/>
            <a:ext cx="201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解析内容</a:t>
            </a:r>
            <a:endParaRPr lang="zh-CN" altLang="en-US" sz="1600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22977" y="4259850"/>
            <a:ext cx="1090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Part four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99273" y="4584843"/>
            <a:ext cx="201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保存数据（展示）</a:t>
            </a:r>
            <a:endParaRPr lang="zh-CN" altLang="en-US" sz="1600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2" name="MH_Others_1"/>
          <p:cNvSpPr txBox="1"/>
          <p:nvPr>
            <p:custDataLst>
              <p:tags r:id="rId1"/>
            </p:custDataLst>
          </p:nvPr>
        </p:nvSpPr>
        <p:spPr>
          <a:xfrm>
            <a:off x="4160902" y="1270802"/>
            <a:ext cx="3955467" cy="8479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爬取过程</a:t>
            </a:r>
            <a:endParaRPr lang="zh-CN" altLang="en-US" sz="40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495929" y="3214189"/>
            <a:ext cx="952500" cy="952500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65657" y="3305718"/>
            <a:ext cx="8130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5203969" y="3921236"/>
            <a:ext cx="191910" cy="19191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6775579" y="3214189"/>
            <a:ext cx="952500" cy="95250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16484" y="3305718"/>
            <a:ext cx="8130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516801" y="3921236"/>
            <a:ext cx="191910" cy="191910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9055229" y="3189105"/>
            <a:ext cx="952500" cy="952500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120148" y="3280634"/>
            <a:ext cx="8226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9770535" y="3921236"/>
            <a:ext cx="191910" cy="19191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067175" y="1666571"/>
            <a:ext cx="4057650" cy="0"/>
            <a:chOff x="4129088" y="2457450"/>
            <a:chExt cx="4057650" cy="0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4129088" y="2457450"/>
              <a:ext cx="971550" cy="0"/>
            </a:xfrm>
            <a:prstGeom prst="line">
              <a:avLst/>
            </a:prstGeom>
            <a:ln w="25400">
              <a:solidFill>
                <a:srgbClr val="6C92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7215188" y="2457450"/>
              <a:ext cx="971550" cy="0"/>
            </a:xfrm>
            <a:prstGeom prst="line">
              <a:avLst/>
            </a:prstGeom>
            <a:ln w="25400">
              <a:solidFill>
                <a:srgbClr val="48A2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4843463" y="2101366"/>
            <a:ext cx="2520286" cy="257175"/>
            <a:chOff x="4843463" y="4520714"/>
            <a:chExt cx="2520286" cy="257175"/>
          </a:xfrm>
        </p:grpSpPr>
        <p:sp>
          <p:nvSpPr>
            <p:cNvPr id="30" name="椭圆 29"/>
            <p:cNvSpPr/>
            <p:nvPr/>
          </p:nvSpPr>
          <p:spPr>
            <a:xfrm>
              <a:off x="4843463" y="4520714"/>
              <a:ext cx="257175" cy="2571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5296085" y="4520714"/>
              <a:ext cx="257175" cy="257175"/>
            </a:xfrm>
            <a:prstGeom prst="ellipse">
              <a:avLst/>
            </a:prstGeom>
            <a:solidFill>
              <a:srgbClr val="A4D6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5748707" y="4520714"/>
              <a:ext cx="257175" cy="2571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6201329" y="4520714"/>
              <a:ext cx="257175" cy="257175"/>
            </a:xfrm>
            <a:prstGeom prst="ellipse">
              <a:avLst/>
            </a:prstGeom>
            <a:solidFill>
              <a:srgbClr val="A4D6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6653951" y="4520714"/>
              <a:ext cx="257175" cy="2571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7106574" y="4520714"/>
              <a:ext cx="257175" cy="257175"/>
            </a:xfrm>
            <a:prstGeom prst="ellipse">
              <a:avLst/>
            </a:prstGeom>
            <a:solidFill>
              <a:srgbClr val="A4D6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843463" y="899270"/>
            <a:ext cx="2520286" cy="257175"/>
            <a:chOff x="4843463" y="4520714"/>
            <a:chExt cx="2520286" cy="257175"/>
          </a:xfrm>
        </p:grpSpPr>
        <p:sp>
          <p:nvSpPr>
            <p:cNvPr id="40" name="椭圆 39"/>
            <p:cNvSpPr/>
            <p:nvPr/>
          </p:nvSpPr>
          <p:spPr>
            <a:xfrm>
              <a:off x="4843463" y="4520714"/>
              <a:ext cx="257175" cy="2571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296085" y="4520714"/>
              <a:ext cx="257175" cy="257175"/>
            </a:xfrm>
            <a:prstGeom prst="ellipse">
              <a:avLst/>
            </a:prstGeom>
            <a:solidFill>
              <a:srgbClr val="A4D6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5748707" y="4520714"/>
              <a:ext cx="257175" cy="2571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6201329" y="4520714"/>
              <a:ext cx="257175" cy="257175"/>
            </a:xfrm>
            <a:prstGeom prst="ellipse">
              <a:avLst/>
            </a:prstGeom>
            <a:solidFill>
              <a:srgbClr val="A4D6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6653951" y="4520714"/>
              <a:ext cx="257175" cy="2571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7106574" y="4520714"/>
              <a:ext cx="257175" cy="257175"/>
            </a:xfrm>
            <a:prstGeom prst="ellipse">
              <a:avLst/>
            </a:prstGeom>
            <a:solidFill>
              <a:srgbClr val="A4D6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椭圆 31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57487" y="622646"/>
            <a:ext cx="23791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itchFamily="49" charset="-122"/>
                <a:ea typeface="黑体" pitchFamily="49" charset="-122"/>
                <a:cs typeface="+mn-ea"/>
                <a:sym typeface="+mn-lt"/>
              </a:rPr>
              <a:t>确定构思 构建代码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黑体" pitchFamily="49" charset="-122"/>
              <a:ea typeface="黑体" pitchFamily="49" charset="-122"/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057488" y="1541903"/>
            <a:ext cx="989838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首先爬取链家成都地区的新房源，获取，房源的名字、价格、地址和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url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这四个信息，然后写一个静态页面，加载高德地图成都地区的图像，把抓取到的数据加载到地图上，然后扩充页面的相应功能。</a:t>
            </a:r>
          </a:p>
        </p:txBody>
      </p:sp>
      <p:sp>
        <p:nvSpPr>
          <p:cNvPr id="37" name="矩形 36"/>
          <p:cNvSpPr/>
          <p:nvPr/>
        </p:nvSpPr>
        <p:spPr>
          <a:xfrm>
            <a:off x="1226820" y="3522133"/>
            <a:ext cx="92041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确定首页为：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cd.fang.lianjia.com/</a:t>
            </a:r>
            <a:r>
              <a:rPr lang="en-US" altLang="zh-CN" sz="2400" dirty="0" err="1" smtClean="0">
                <a:latin typeface="微软雅黑" pitchFamily="34" charset="-122"/>
                <a:ea typeface="微软雅黑" pitchFamily="34" charset="-122"/>
              </a:rPr>
              <a:t>loupan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CN" sz="2400" dirty="0">
                <a:hlinkClick r:id="rId2"/>
              </a:rPr>
              <a:t>http://cd.fang.lianjia.com/loupan/pg1</a:t>
            </a:r>
            <a:r>
              <a:rPr lang="en-US" altLang="zh-CN" sz="2400" dirty="0" smtClean="0">
                <a:hlinkClick r:id="rId2"/>
              </a:rPr>
              <a:t>/</a:t>
            </a:r>
            <a:r>
              <a:rPr lang="zh-CN" altLang="en-US" sz="2400" dirty="0" smtClean="0"/>
              <a:t>为分页</a:t>
            </a:r>
            <a:endParaRPr lang="en-US" altLang="zh-CN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利用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循环把分页的数据爬取下来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7487" y="622646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itchFamily="49" charset="-122"/>
                <a:ea typeface="黑体" pitchFamily="49" charset="-122"/>
                <a:cs typeface="+mn-ea"/>
                <a:sym typeface="+mn-lt"/>
              </a:rPr>
              <a:t>分析简略信息页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黑体" pitchFamily="49" charset="-122"/>
              <a:ea typeface="黑体" pitchFamily="49" charset="-122"/>
              <a:cs typeface="+mn-ea"/>
              <a:sym typeface="+mn-lt"/>
            </a:endParaRPr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" y="1285874"/>
            <a:ext cx="10349787" cy="305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616199" y="4665133"/>
            <a:ext cx="7455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可以看出来具体房源信息的页面</a:t>
            </a:r>
            <a:r>
              <a:rPr lang="en-US" altLang="zh-CN" dirty="0" err="1" smtClean="0"/>
              <a:t>url</a:t>
            </a:r>
            <a:r>
              <a:rPr lang="zh-CN" altLang="en-US" dirty="0" smtClean="0"/>
              <a:t>为</a:t>
            </a:r>
            <a:r>
              <a:rPr lang="en-US" altLang="zh-CN" dirty="0"/>
              <a:t>/</a:t>
            </a:r>
            <a:r>
              <a:rPr lang="en-US" altLang="zh-CN" dirty="0" err="1" smtClean="0"/>
              <a:t>loupan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p_hdwjhfaazop</a:t>
            </a:r>
            <a:endParaRPr lang="en-US" altLang="zh-CN" dirty="0" smtClean="0"/>
          </a:p>
          <a:p>
            <a:r>
              <a:rPr lang="zh-CN" altLang="en-US" dirty="0" smtClean="0"/>
              <a:t>利用</a:t>
            </a:r>
            <a:r>
              <a:rPr lang="en-US" altLang="zh-CN" dirty="0" err="1" smtClean="0"/>
              <a:t>xpath</a:t>
            </a:r>
            <a:r>
              <a:rPr lang="zh-CN" altLang="en-US" dirty="0" smtClean="0"/>
              <a:t>爬取链接，存储在一个集合里，</a:t>
            </a:r>
            <a:r>
              <a:rPr lang="zh-CN" altLang="zh-CN" dirty="0" smtClean="0"/>
              <a:t>遍历集合</a:t>
            </a:r>
            <a:r>
              <a:rPr lang="zh-CN" altLang="zh-CN" dirty="0"/>
              <a:t>，请求具体页面。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057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7486" y="622646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itchFamily="49" charset="-122"/>
                <a:ea typeface="黑体" pitchFamily="49" charset="-122"/>
                <a:cs typeface="+mn-ea"/>
                <a:sym typeface="+mn-lt"/>
              </a:rPr>
              <a:t>分析具体页面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黑体" pitchFamily="49" charset="-122"/>
              <a:ea typeface="黑体" pitchFamily="49" charset="-122"/>
              <a:cs typeface="+mn-ea"/>
              <a:sym typeface="+mn-lt"/>
            </a:endParaRPr>
          </a:p>
        </p:txBody>
      </p: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70" y="1106723"/>
            <a:ext cx="8599487" cy="4638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800600" y="607746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包含名字的标签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798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083" y="906885"/>
            <a:ext cx="9240546" cy="4082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800599" y="559090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包含价格的标签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614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916" y="960307"/>
            <a:ext cx="9254552" cy="375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800600" y="530567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包含地址信息的标签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577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28132" y="847288"/>
            <a:ext cx="930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构建好代码后命令 </a:t>
            </a:r>
            <a:r>
              <a:rPr lang="en-US" altLang="zh-CN" dirty="0" err="1" smtClean="0"/>
              <a:t>scrapy</a:t>
            </a:r>
            <a:r>
              <a:rPr lang="en-US" altLang="zh-CN" dirty="0" smtClean="0"/>
              <a:t> </a:t>
            </a:r>
            <a:r>
              <a:rPr lang="en-US" altLang="zh-CN" dirty="0"/>
              <a:t>crawl </a:t>
            </a:r>
            <a:r>
              <a:rPr lang="en-US" altLang="zh-CN" dirty="0" err="1"/>
              <a:t>fangjia</a:t>
            </a:r>
            <a:r>
              <a:rPr lang="en-US" altLang="zh-CN" dirty="0"/>
              <a:t> -o rent.csv -t </a:t>
            </a:r>
            <a:r>
              <a:rPr lang="en-US" altLang="zh-CN" dirty="0" err="1" smtClean="0"/>
              <a:t>csv</a:t>
            </a:r>
            <a:r>
              <a:rPr lang="en-US" altLang="zh-CN" dirty="0" smtClean="0"/>
              <a:t> </a:t>
            </a:r>
            <a:r>
              <a:rPr lang="zh-CN" altLang="en-US" dirty="0" smtClean="0"/>
              <a:t>爬取</a:t>
            </a:r>
            <a:r>
              <a:rPr lang="zh-CN" altLang="en-US" dirty="0" smtClean="0"/>
              <a:t>数据保存为</a:t>
            </a:r>
            <a:r>
              <a:rPr lang="en-US" altLang="zh-CN" dirty="0"/>
              <a:t>rent.csv</a:t>
            </a:r>
            <a:endParaRPr lang="zh-CN" altLang="en-US" dirty="0"/>
          </a:p>
        </p:txBody>
      </p:sp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558" y="1510251"/>
            <a:ext cx="8208700" cy="4415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35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7487" y="622646"/>
            <a:ext cx="44454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itchFamily="49" charset="-122"/>
                <a:ea typeface="黑体" pitchFamily="49" charset="-122"/>
                <a:cs typeface="+mn-ea"/>
                <a:sym typeface="+mn-lt"/>
              </a:rPr>
              <a:t>引入高德地图，利用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itchFamily="49" charset="-122"/>
                <a:ea typeface="黑体" pitchFamily="49" charset="-122"/>
                <a:cs typeface="+mn-ea"/>
                <a:sym typeface="+mn-lt"/>
              </a:rPr>
              <a:t>API</a:t>
            </a: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itchFamily="49" charset="-122"/>
                <a:ea typeface="黑体" pitchFamily="49" charset="-122"/>
                <a:cs typeface="+mn-ea"/>
                <a:sym typeface="+mn-lt"/>
              </a:rPr>
              <a:t>展示爬取数据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黑体" pitchFamily="49" charset="-122"/>
              <a:ea typeface="黑体" pitchFamily="49" charset="-122"/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14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267" y="1160932"/>
            <a:ext cx="9815041" cy="479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364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995911" y="2903221"/>
            <a:ext cx="42001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cs typeface="+mn-ea"/>
                <a:sym typeface="+mn-lt"/>
              </a:rPr>
              <a:t>THANK YOU</a:t>
            </a:r>
            <a:endParaRPr lang="zh-CN" altLang="en-US" sz="7200" dirty="0">
              <a:solidFill>
                <a:srgbClr val="48A2A0"/>
              </a:solidFill>
              <a:latin typeface="Impact" panose="020B0806030902050204" pitchFamily="34" charset="0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228615" y="1829482"/>
            <a:ext cx="173477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800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cs typeface="+mn-ea"/>
                <a:sym typeface="+mn-lt"/>
              </a:rPr>
              <a:t>END</a:t>
            </a:r>
            <a:endParaRPr lang="zh-CN" altLang="en-US" sz="800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78866" y="4057017"/>
            <a:ext cx="6034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Curabitur vitae magna eleifend at viverraligula. Sed dictum finibus vitae nunc egestas.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843463" y="4810201"/>
            <a:ext cx="2520286" cy="257175"/>
            <a:chOff x="4843463" y="4520714"/>
            <a:chExt cx="2520286" cy="257175"/>
          </a:xfrm>
        </p:grpSpPr>
        <p:sp>
          <p:nvSpPr>
            <p:cNvPr id="11" name="椭圆 10"/>
            <p:cNvSpPr/>
            <p:nvPr/>
          </p:nvSpPr>
          <p:spPr>
            <a:xfrm>
              <a:off x="4843463" y="4520714"/>
              <a:ext cx="257175" cy="2571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96085" y="4520714"/>
              <a:ext cx="257175" cy="257175"/>
            </a:xfrm>
            <a:prstGeom prst="ellipse">
              <a:avLst/>
            </a:prstGeom>
            <a:solidFill>
              <a:srgbClr val="A4D6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748707" y="4520714"/>
              <a:ext cx="257175" cy="2571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201329" y="4520714"/>
              <a:ext cx="257175" cy="257175"/>
            </a:xfrm>
            <a:prstGeom prst="ellipse">
              <a:avLst/>
            </a:prstGeom>
            <a:solidFill>
              <a:srgbClr val="A4D6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6653951" y="4520714"/>
              <a:ext cx="257175" cy="2571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106574" y="4520714"/>
              <a:ext cx="257175" cy="257175"/>
            </a:xfrm>
            <a:prstGeom prst="ellipse">
              <a:avLst/>
            </a:prstGeom>
            <a:solidFill>
              <a:srgbClr val="A4D6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067175" y="2457450"/>
            <a:ext cx="4057650" cy="0"/>
            <a:chOff x="4129088" y="2457450"/>
            <a:chExt cx="4057650" cy="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29088" y="2457450"/>
              <a:ext cx="971550" cy="0"/>
            </a:xfrm>
            <a:prstGeom prst="line">
              <a:avLst/>
            </a:prstGeom>
            <a:ln w="25400">
              <a:solidFill>
                <a:srgbClr val="6C92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7215188" y="2457450"/>
              <a:ext cx="971550" cy="0"/>
            </a:xfrm>
            <a:prstGeom prst="line">
              <a:avLst/>
            </a:prstGeom>
            <a:ln w="25400">
              <a:solidFill>
                <a:srgbClr val="48A2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69567"/>
  <p:tag name="KSO_WM_TEMPLATE_OUTLINE_ID" val="6"/>
  <p:tag name="KSO_WM_TEMPLATE_SCENE_ID" val="1"/>
  <p:tag name="KSO_WM_TEMPLATE_JOB_ID" val="6"/>
  <p:tag name="KSO_WM_TEMPLATE_TOPIC_DEFAULT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微软雅黑 Light"/>
        <a:ea typeface="微软雅黑 Light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247</Words>
  <Application>Microsoft Office PowerPoint</Application>
  <PresentationFormat>自定义</PresentationFormat>
  <Paragraphs>32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http://www.ypppt.com/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dc:description>http://www.ypppt.com/</dc:description>
  <cp:lastModifiedBy>JohnTitor</cp:lastModifiedBy>
  <cp:revision>57</cp:revision>
  <dcterms:created xsi:type="dcterms:W3CDTF">2016-01-19T08:46:00Z</dcterms:created>
  <dcterms:modified xsi:type="dcterms:W3CDTF">2018-05-19T02:44:09Z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2052-10.1.0.7022</vt:lpwstr>
  </property>
</Properties>
</file>